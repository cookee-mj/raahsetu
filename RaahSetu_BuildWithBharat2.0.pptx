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768" y="-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370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280160"/>
            <a:ext cx="4754880" cy="4754880"/>
          </a:xfrm>
          <a:prstGeom prst="ellipse">
            <a:avLst/>
          </a:prstGeom>
          <a:solidFill>
            <a:srgbClr val="D5819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108960" cy="3108960"/>
          </a:xfrm>
          <a:prstGeom prst="ellipse">
            <a:avLst/>
          </a:prstGeom>
          <a:solidFill>
            <a:srgbClr val="AE5369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937760"/>
            <a:ext cx="3291840" cy="3291840"/>
          </a:xfrm>
          <a:prstGeom prst="ellipse">
            <a:avLst/>
          </a:prstGeom>
          <a:solidFill>
            <a:srgbClr val="A89C7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457200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50342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4572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भारत 2.0  ·  OPEN INNOVATION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0" b="1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RaahSetu</a:t>
            </a:r>
            <a:endParaRPr lang="en-US" sz="7600" dirty="0"/>
          </a:p>
        </p:txBody>
      </p:sp>
      <p:sp>
        <p:nvSpPr>
          <p:cNvPr id="8" name="Text 6"/>
          <p:cNvSpPr/>
          <p:nvPr/>
        </p:nvSpPr>
        <p:spPr>
          <a:xfrm>
            <a:off x="502920" y="29992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i="1" dirty="0">
                <a:solidFill>
                  <a:srgbClr val="AE5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raah </a:t>
            </a:r>
            <a:r>
              <a:rPr lang="en-US" sz="1450" dirty="0">
                <a:solidFill>
                  <a:srgbClr val="A89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(route) + </a:t>
            </a:r>
            <a:r>
              <a:rPr lang="en-US" sz="1450" i="1" dirty="0">
                <a:solidFill>
                  <a:srgbClr val="AE5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 </a:t>
            </a:r>
            <a:r>
              <a:rPr lang="en-US" sz="1450" dirty="0">
                <a:solidFill>
                  <a:srgbClr val="515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(bridge) — a bridge between commuters and the routes no map has written down.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3611880"/>
            <a:ext cx="7863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581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6118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everyday passengers into the real-time data network for India’s last-mile transport.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434840"/>
            <a:ext cx="41148" cy="1874520"/>
          </a:xfrm>
          <a:prstGeom prst="rect">
            <a:avLst/>
          </a:prstGeom>
          <a:solidFill>
            <a:srgbClr val="AE5369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434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A89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71800" y="443484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ZENITHe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8920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A89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71800" y="489204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Arushi  ·  Diya  ·  Mansi  ·  Nidhi  ·  Yashika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53492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A89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71800" y="534924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Indira Gandhi Delhi Technical University for Women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5806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A89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71800" y="580644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digital visibility for informal local transport across Tier-2/3 &amp; rural India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532620" y="4238244"/>
            <a:ext cx="1737360" cy="1737360"/>
          </a:xfrm>
          <a:prstGeom prst="ellipse">
            <a:avLst/>
          </a:prstGeom>
          <a:solidFill>
            <a:srgbClr val="AE5369"/>
          </a:solidFill>
          <a:ln/>
        </p:spPr>
      </p:sp>
      <p:pic>
        <p:nvPicPr>
          <p:cNvPr id="21" name="Image 0" descr="/home/claude/raahsetu/icons/mapp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4421124"/>
            <a:ext cx="1216152" cy="1216152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8732520" y="5394960"/>
            <a:ext cx="960120" cy="960120"/>
          </a:xfrm>
          <a:prstGeom prst="ellipse">
            <a:avLst/>
          </a:prstGeom>
          <a:solidFill>
            <a:srgbClr val="503429"/>
          </a:solidFill>
          <a:ln/>
        </p:spPr>
      </p:sp>
      <p:pic>
        <p:nvPicPr>
          <p:cNvPr id="23" name="Image 1" descr="/home/claude/raahsetu/icons/b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6538" y="5538978"/>
            <a:ext cx="672084" cy="672084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10927080" y="5560561"/>
            <a:ext cx="868680" cy="868680"/>
          </a:xfrm>
          <a:prstGeom prst="ellipse">
            <a:avLst/>
          </a:prstGeom>
          <a:solidFill>
            <a:srgbClr val="515335"/>
          </a:solidFill>
          <a:ln/>
        </p:spPr>
      </p:sp>
      <p:pic>
        <p:nvPicPr>
          <p:cNvPr id="25" name="Image 2" descr="/home/claude/raahsetu/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20" y="5694157"/>
            <a:ext cx="608076" cy="60807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89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A89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RAAHSETU  ·  BUILD WITH BHARAT 2.0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82935" y="-1508760"/>
            <a:ext cx="2743200" cy="2743200"/>
          </a:xfrm>
          <a:prstGeom prst="ellipse">
            <a:avLst/>
          </a:prstGeom>
          <a:solidFill>
            <a:srgbClr val="A89C7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11480"/>
            <a:ext cx="1860804" cy="329184"/>
          </a:xfrm>
          <a:prstGeom prst="roundRect">
            <a:avLst>
              <a:gd name="adj" fmla="val 50000"/>
            </a:avLst>
          </a:prstGeom>
          <a:solidFill>
            <a:srgbClr val="AE53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11480"/>
            <a:ext cx="1860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LAST-MILE VISIBILITY GAP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89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A89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RAAHSETU  ·  BUILD WITH BHARAT 2.0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96112" y="169164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FE7DA"/>
            </a:solidFill>
            <a:prstDash val="solid"/>
          </a:ln>
          <a:effectLst>
            <a:outerShdw blurRad="76200" dist="25400" dir="5400000" algn="bl" rotWithShape="0">
              <a:srgbClr val="503429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68196" y="1856232"/>
            <a:ext cx="621792" cy="621792"/>
          </a:xfrm>
          <a:prstGeom prst="ellipse">
            <a:avLst/>
          </a:prstGeom>
          <a:solidFill>
            <a:srgbClr val="F1E6E9"/>
          </a:solidFill>
          <a:ln/>
        </p:spPr>
      </p:sp>
      <p:pic>
        <p:nvPicPr>
          <p:cNvPr id="10" name="Image 0" descr="/home/claude/raahsetu/icons/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119" y="1968155"/>
            <a:ext cx="397947" cy="39794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9264" y="2532888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to Travel</a:t>
            </a:r>
            <a:endParaRPr lang="en-US" sz="1050" dirty="0"/>
          </a:p>
        </p:txBody>
      </p:sp>
      <p:pic>
        <p:nvPicPr>
          <p:cNvPr id="12" name="Image 1" descr="/home/claude/raahsetu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6337" y="2348179"/>
            <a:ext cx="122895" cy="12289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999232" y="169164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FE7DA"/>
            </a:solidFill>
            <a:prstDash val="solid"/>
          </a:ln>
          <a:effectLst>
            <a:outerShdw blurRad="76200" dist="25400" dir="5400000" algn="bl" rotWithShape="0">
              <a:srgbClr val="503429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71316" y="1856232"/>
            <a:ext cx="621792" cy="621792"/>
          </a:xfrm>
          <a:prstGeom prst="ellipse">
            <a:avLst/>
          </a:prstGeom>
          <a:solidFill>
            <a:srgbClr val="F1E6E9"/>
          </a:solidFill>
          <a:ln/>
        </p:spPr>
      </p:sp>
      <p:pic>
        <p:nvPicPr>
          <p:cNvPr id="15" name="Image 2" descr="/home/claude/raahsetu/icons/mapques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5478" y="1981688"/>
            <a:ext cx="397947" cy="3979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072384" y="2532888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Reaches the Stop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5102352" y="169164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FE7DA"/>
            </a:solidFill>
            <a:prstDash val="solid"/>
          </a:ln>
          <a:effectLst>
            <a:outerShdw blurRad="76200" dist="25400" dir="5400000" algn="bl" rotWithShape="0">
              <a:srgbClr val="503429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774436" y="1856232"/>
            <a:ext cx="621792" cy="621792"/>
          </a:xfrm>
          <a:prstGeom prst="ellipse">
            <a:avLst/>
          </a:prstGeom>
          <a:solidFill>
            <a:srgbClr val="F1E6E9"/>
          </a:solidFill>
          <a:ln/>
        </p:spPr>
      </p:sp>
      <p:pic>
        <p:nvPicPr>
          <p:cNvPr id="20" name="Image 4" descr="/home/claude/raahsetu/icons/eyesla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6359" y="1968155"/>
            <a:ext cx="397947" cy="39794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75504" y="2532888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Timetable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7205472" y="169164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FE7DA"/>
            </a:solidFill>
            <a:prstDash val="solid"/>
          </a:ln>
          <a:effectLst>
            <a:outerShdw blurRad="76200" dist="25400" dir="5400000" algn="bl" rotWithShape="0">
              <a:srgbClr val="503429">
                <a:alpha val="12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7877556" y="1856232"/>
            <a:ext cx="621792" cy="621792"/>
          </a:xfrm>
          <a:prstGeom prst="ellipse">
            <a:avLst/>
          </a:prstGeom>
          <a:solidFill>
            <a:srgbClr val="F1E6E9"/>
          </a:solidFill>
          <a:ln/>
        </p:spPr>
      </p:sp>
      <p:pic>
        <p:nvPicPr>
          <p:cNvPr id="25" name="Image 6" descr="/home/claude/raahsetu/icons/clockwai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9479" y="1968155"/>
            <a:ext cx="397947" cy="397947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278624" y="2532888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Waits Uncertainly</a:t>
            </a:r>
            <a:endParaRPr lang="en-US" sz="1050" dirty="0"/>
          </a:p>
        </p:txBody>
      </p:sp>
      <p:sp>
        <p:nvSpPr>
          <p:cNvPr id="28" name="Shape 18"/>
          <p:cNvSpPr/>
          <p:nvPr/>
        </p:nvSpPr>
        <p:spPr>
          <a:xfrm>
            <a:off x="9308592" y="169164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FE7DA"/>
            </a:solidFill>
            <a:prstDash val="solid"/>
          </a:ln>
          <a:effectLst>
            <a:outerShdw blurRad="76200" dist="25400" dir="5400000" algn="bl" rotWithShape="0">
              <a:srgbClr val="503429">
                <a:alpha val="12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9980676" y="1856232"/>
            <a:ext cx="621792" cy="621792"/>
          </a:xfrm>
          <a:prstGeom prst="ellipse">
            <a:avLst/>
          </a:prstGeom>
          <a:solidFill>
            <a:srgbClr val="AE5369"/>
          </a:solidFill>
          <a:ln/>
        </p:spPr>
      </p:sp>
      <p:pic>
        <p:nvPicPr>
          <p:cNvPr id="30" name="Image 8" descr="/home/claude/raahsetu/icons/bu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6381" y="1961937"/>
            <a:ext cx="410383" cy="410383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381744" y="2532888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Arrives Unpredictably</a:t>
            </a:r>
            <a:endParaRPr lang="en-US" sz="1050" dirty="0"/>
          </a:p>
        </p:txBody>
      </p:sp>
      <p:sp>
        <p:nvSpPr>
          <p:cNvPr id="32" name="Shape 21"/>
          <p:cNvSpPr/>
          <p:nvPr/>
        </p:nvSpPr>
        <p:spPr>
          <a:xfrm>
            <a:off x="502920" y="3246120"/>
            <a:ext cx="3310128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FE7DA"/>
            </a:solidFill>
            <a:prstDash val="solid"/>
          </a:ln>
        </p:spPr>
      </p:sp>
      <p:sp>
        <p:nvSpPr>
          <p:cNvPr id="33" name="Shape 22"/>
          <p:cNvSpPr/>
          <p:nvPr/>
        </p:nvSpPr>
        <p:spPr>
          <a:xfrm>
            <a:off x="649224" y="3447288"/>
            <a:ext cx="493776" cy="493776"/>
          </a:xfrm>
          <a:prstGeom prst="ellipse">
            <a:avLst/>
          </a:prstGeom>
          <a:solidFill>
            <a:srgbClr val="F6EEE1"/>
          </a:solidFill>
          <a:ln/>
        </p:spPr>
      </p:sp>
      <p:pic>
        <p:nvPicPr>
          <p:cNvPr id="34" name="Image 9" descr="/home/claude/raahsetu/icons/rou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228" y="3526292"/>
            <a:ext cx="335768" cy="335768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1252728" y="3246120"/>
            <a:ext cx="24140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Unmapped feeder routes with zero digital record</a:t>
            </a:r>
            <a:endParaRPr lang="en-US" sz="1150" dirty="0"/>
          </a:p>
        </p:txBody>
      </p:sp>
      <p:sp>
        <p:nvSpPr>
          <p:cNvPr id="36" name="Shape 24"/>
          <p:cNvSpPr/>
          <p:nvPr/>
        </p:nvSpPr>
        <p:spPr>
          <a:xfrm>
            <a:off x="4041648" y="3246120"/>
            <a:ext cx="3310128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FE7DA"/>
            </a:solidFill>
            <a:prstDash val="solid"/>
          </a:ln>
        </p:spPr>
      </p:sp>
      <p:sp>
        <p:nvSpPr>
          <p:cNvPr id="37" name="Shape 25"/>
          <p:cNvSpPr/>
          <p:nvPr/>
        </p:nvSpPr>
        <p:spPr>
          <a:xfrm>
            <a:off x="4187952" y="3447288"/>
            <a:ext cx="493776" cy="493776"/>
          </a:xfrm>
          <a:prstGeom prst="ellipse">
            <a:avLst/>
          </a:prstGeom>
          <a:solidFill>
            <a:srgbClr val="F6EEE1"/>
          </a:solidFill>
          <a:ln/>
        </p:spPr>
      </p:sp>
      <p:pic>
        <p:nvPicPr>
          <p:cNvPr id="38" name="Image 10" descr="/home/claude/raahsetu/icons/mapques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3108" y="3539015"/>
            <a:ext cx="335768" cy="335768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4791456" y="3246120"/>
            <a:ext cx="24140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digital schedules for shared tempos &amp; local buses</a:t>
            </a:r>
            <a:endParaRPr lang="en-US" sz="1150" dirty="0"/>
          </a:p>
        </p:txBody>
      </p:sp>
      <p:sp>
        <p:nvSpPr>
          <p:cNvPr id="40" name="Shape 27"/>
          <p:cNvSpPr/>
          <p:nvPr/>
        </p:nvSpPr>
        <p:spPr>
          <a:xfrm>
            <a:off x="7580376" y="3246120"/>
            <a:ext cx="3310128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FE7DA"/>
            </a:solidFill>
            <a:prstDash val="solid"/>
          </a:ln>
        </p:spPr>
      </p:sp>
      <p:sp>
        <p:nvSpPr>
          <p:cNvPr id="41" name="Shape 28"/>
          <p:cNvSpPr/>
          <p:nvPr/>
        </p:nvSpPr>
        <p:spPr>
          <a:xfrm>
            <a:off x="7726680" y="3447288"/>
            <a:ext cx="493776" cy="493776"/>
          </a:xfrm>
          <a:prstGeom prst="ellipse">
            <a:avLst/>
          </a:prstGeom>
          <a:solidFill>
            <a:srgbClr val="F6EEE1"/>
          </a:solidFill>
          <a:ln/>
        </p:spPr>
      </p:sp>
      <p:pic>
        <p:nvPicPr>
          <p:cNvPr id="42" name="Image 11" descr="/home/claude/raahsetu/icons/clockwai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5684" y="3526292"/>
            <a:ext cx="335768" cy="335768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8330184" y="3246120"/>
            <a:ext cx="24140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Unpredictable waiting, no visibility into delays</a:t>
            </a:r>
            <a:endParaRPr lang="en-US" sz="1150" dirty="0"/>
          </a:p>
        </p:txBody>
      </p:sp>
      <p:sp>
        <p:nvSpPr>
          <p:cNvPr id="44" name="Shape 30"/>
          <p:cNvSpPr/>
          <p:nvPr/>
        </p:nvSpPr>
        <p:spPr>
          <a:xfrm>
            <a:off x="2011680" y="4343400"/>
            <a:ext cx="3310128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FE7DA"/>
            </a:solidFill>
            <a:prstDash val="solid"/>
          </a:ln>
        </p:spPr>
      </p:sp>
      <p:sp>
        <p:nvSpPr>
          <p:cNvPr id="45" name="Shape 31"/>
          <p:cNvSpPr/>
          <p:nvPr/>
        </p:nvSpPr>
        <p:spPr>
          <a:xfrm>
            <a:off x="2153412" y="4562856"/>
            <a:ext cx="493776" cy="493776"/>
          </a:xfrm>
          <a:prstGeom prst="ellipse">
            <a:avLst/>
          </a:prstGeom>
          <a:solidFill>
            <a:srgbClr val="F6EEE1"/>
          </a:solidFill>
          <a:ln/>
        </p:spPr>
      </p:sp>
      <p:pic>
        <p:nvPicPr>
          <p:cNvPr id="46" name="Image 12" descr="/home/claude/raahsetu/icons/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416" y="4623572"/>
            <a:ext cx="335768" cy="335768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2788920" y="4379976"/>
            <a:ext cx="24140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information locked in local, word-of-mouth knowledge</a:t>
            </a:r>
            <a:endParaRPr lang="en-US" sz="1150" dirty="0"/>
          </a:p>
        </p:txBody>
      </p:sp>
      <p:sp>
        <p:nvSpPr>
          <p:cNvPr id="48" name="Shape 33"/>
          <p:cNvSpPr/>
          <p:nvPr/>
        </p:nvSpPr>
        <p:spPr>
          <a:xfrm>
            <a:off x="5861304" y="4343400"/>
            <a:ext cx="3310128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FE7DA"/>
            </a:solidFill>
            <a:prstDash val="solid"/>
          </a:ln>
        </p:spPr>
      </p:sp>
      <p:sp>
        <p:nvSpPr>
          <p:cNvPr id="49" name="Shape 34"/>
          <p:cNvSpPr/>
          <p:nvPr/>
        </p:nvSpPr>
        <p:spPr>
          <a:xfrm>
            <a:off x="5950131" y="4544568"/>
            <a:ext cx="493776" cy="493776"/>
          </a:xfrm>
          <a:prstGeom prst="ellipse">
            <a:avLst/>
          </a:prstGeom>
          <a:solidFill>
            <a:srgbClr val="F6EEE1"/>
          </a:solidFill>
          <a:ln/>
        </p:spPr>
      </p:sp>
      <p:pic>
        <p:nvPicPr>
          <p:cNvPr id="50" name="Image 13" descr="/home/claude/raahsetu/icons/eyesla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3036" y="4617720"/>
            <a:ext cx="335768" cy="335768"/>
          </a:xfrm>
          <a:prstGeom prst="rect">
            <a:avLst/>
          </a:prstGeom>
        </p:spPr>
      </p:pic>
      <p:sp>
        <p:nvSpPr>
          <p:cNvPr id="51" name="Text 35"/>
          <p:cNvSpPr/>
          <p:nvPr/>
        </p:nvSpPr>
        <p:spPr>
          <a:xfrm>
            <a:off x="6519672" y="4363413"/>
            <a:ext cx="24140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changes stay invisible to commuters</a:t>
            </a:r>
            <a:endParaRPr lang="en-US" sz="1150" dirty="0"/>
          </a:p>
        </p:txBody>
      </p:sp>
      <p:sp>
        <p:nvSpPr>
          <p:cNvPr id="52" name="Shape 36"/>
          <p:cNvSpPr/>
          <p:nvPr/>
        </p:nvSpPr>
        <p:spPr>
          <a:xfrm>
            <a:off x="502920" y="5779008"/>
            <a:ext cx="11183112" cy="713232"/>
          </a:xfrm>
          <a:prstGeom prst="roundRect">
            <a:avLst>
              <a:gd name="adj" fmla="val 12821"/>
            </a:avLst>
          </a:prstGeom>
          <a:solidFill>
            <a:srgbClr val="503429"/>
          </a:solidFill>
          <a:ln/>
        </p:spPr>
      </p:sp>
      <p:pic>
        <p:nvPicPr>
          <p:cNvPr id="53" name="Image 14" descr="/home/claude/raahsetu/icons/quo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980176"/>
            <a:ext cx="310896" cy="310896"/>
          </a:xfrm>
          <a:prstGeom prst="rect">
            <a:avLst/>
          </a:prstGeom>
        </p:spPr>
      </p:pic>
      <p:sp>
        <p:nvSpPr>
          <p:cNvPr id="54" name="Text 37"/>
          <p:cNvSpPr/>
          <p:nvPr/>
        </p:nvSpPr>
        <p:spPr>
          <a:xfrm>
            <a:off x="1280160" y="5779008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i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vehicle exists. The information doesn’t.</a:t>
            </a:r>
            <a:endParaRPr lang="en-US" sz="1900" dirty="0"/>
          </a:p>
        </p:txBody>
      </p:sp>
      <p:pic>
        <p:nvPicPr>
          <p:cNvPr id="55" name="Image 1" descr="/home/claude/raahsetu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6459" y="2359099"/>
            <a:ext cx="122895" cy="122895"/>
          </a:xfrm>
          <a:prstGeom prst="rect">
            <a:avLst/>
          </a:prstGeom>
        </p:spPr>
      </p:pic>
      <p:pic>
        <p:nvPicPr>
          <p:cNvPr id="56" name="Image 1" descr="/home/claude/raahsetu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569" y="2361189"/>
            <a:ext cx="122895" cy="122895"/>
          </a:xfrm>
          <a:prstGeom prst="rect">
            <a:avLst/>
          </a:prstGeom>
        </p:spPr>
      </p:pic>
      <p:pic>
        <p:nvPicPr>
          <p:cNvPr id="57" name="Image 1" descr="/home/claude/raahsetu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2887" y="2372320"/>
            <a:ext cx="122895" cy="122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09344" y="5248656"/>
            <a:ext cx="2926080" cy="2926080"/>
          </a:xfrm>
          <a:prstGeom prst="ellipse">
            <a:avLst/>
          </a:prstGeom>
          <a:solidFill>
            <a:srgbClr val="D5819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11480"/>
            <a:ext cx="1984248" cy="329184"/>
          </a:xfrm>
          <a:prstGeom prst="roundRect">
            <a:avLst>
              <a:gd name="adj" fmla="val 50000"/>
            </a:avLst>
          </a:prstGeom>
          <a:solidFill>
            <a:srgbClr val="AE53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11480"/>
            <a:ext cx="198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INFORMAL TIMINGS TO LIVING TIMETABLES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89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A89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RAAHSETU  ·  BUILD WITH BHARAT 2.0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1783080"/>
            <a:ext cx="32461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FE7DA"/>
            </a:solidFill>
            <a:prstDash val="solid"/>
          </a:ln>
          <a:effectLst>
            <a:outerShdw blurRad="101600" dist="25400" dir="5400000" algn="bl" rotWithShape="0">
              <a:srgbClr val="503429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783080"/>
            <a:ext cx="3246120" cy="457200"/>
          </a:xfrm>
          <a:prstGeom prst="roundRect">
            <a:avLst>
              <a:gd name="adj" fmla="val 20000"/>
            </a:avLst>
          </a:prstGeom>
          <a:solidFill>
            <a:srgbClr val="AE5369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057400"/>
            <a:ext cx="3246120" cy="182880"/>
          </a:xfrm>
          <a:prstGeom prst="rect">
            <a:avLst/>
          </a:prstGeom>
          <a:solidFill>
            <a:srgbClr val="AE5369"/>
          </a:solidFill>
          <a:ln/>
        </p:spPr>
      </p:sp>
      <p:sp>
        <p:nvSpPr>
          <p:cNvPr id="11" name="Text 9"/>
          <p:cNvSpPr/>
          <p:nvPr/>
        </p:nvSpPr>
        <p:spPr>
          <a:xfrm>
            <a:off x="941832" y="18013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180136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16252" y="2441448"/>
            <a:ext cx="768096" cy="768096"/>
          </a:xfrm>
          <a:prstGeom prst="ellipse">
            <a:avLst/>
          </a:prstGeom>
          <a:solidFill>
            <a:srgbClr val="F6EEE1"/>
          </a:solidFill>
          <a:ln/>
        </p:spPr>
      </p:sp>
      <p:pic>
        <p:nvPicPr>
          <p:cNvPr id="14" name="Image 0" descr="/home/claude/raahsetu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147" y="2564343"/>
            <a:ext cx="522305" cy="52230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05840" y="32918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commuters report actual departures, frequencies and delays as they experience them.</a:t>
            </a:r>
            <a:endParaRPr lang="en-US" sz="1100" dirty="0"/>
          </a:p>
        </p:txBody>
      </p:sp>
      <p:pic>
        <p:nvPicPr>
          <p:cNvPr id="16" name="Image 1" descr="/home/claude/raahsetu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5364" y="2820924"/>
            <a:ext cx="256032" cy="25603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343400" y="1783080"/>
            <a:ext cx="32461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FE7DA"/>
            </a:solidFill>
            <a:prstDash val="solid"/>
          </a:ln>
          <a:effectLst>
            <a:outerShdw blurRad="101600" dist="25400" dir="5400000" algn="bl" rotWithShape="0">
              <a:srgbClr val="503429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343400" y="1783080"/>
            <a:ext cx="3246120" cy="457200"/>
          </a:xfrm>
          <a:prstGeom prst="roundRect">
            <a:avLst>
              <a:gd name="adj" fmla="val 20000"/>
            </a:avLst>
          </a:prstGeom>
          <a:solidFill>
            <a:srgbClr val="515335"/>
          </a:solidFill>
          <a:ln/>
        </p:spPr>
      </p:sp>
      <p:sp>
        <p:nvSpPr>
          <p:cNvPr id="19" name="Shape 15"/>
          <p:cNvSpPr/>
          <p:nvPr/>
        </p:nvSpPr>
        <p:spPr>
          <a:xfrm>
            <a:off x="4343400" y="2057400"/>
            <a:ext cx="3246120" cy="182880"/>
          </a:xfrm>
          <a:prstGeom prst="rect">
            <a:avLst/>
          </a:prstGeom>
          <a:solidFill>
            <a:srgbClr val="515335"/>
          </a:solidFill>
          <a:ln/>
        </p:spPr>
      </p:sp>
      <p:sp>
        <p:nvSpPr>
          <p:cNvPr id="20" name="Text 16"/>
          <p:cNvSpPr/>
          <p:nvPr/>
        </p:nvSpPr>
        <p:spPr>
          <a:xfrm>
            <a:off x="4507992" y="18013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937760" y="180136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5582412" y="2441448"/>
            <a:ext cx="768096" cy="768096"/>
          </a:xfrm>
          <a:prstGeom prst="ellipse">
            <a:avLst/>
          </a:prstGeom>
          <a:solidFill>
            <a:srgbClr val="F6EEE1"/>
          </a:solidFill>
          <a:ln/>
        </p:spPr>
      </p:sp>
      <p:pic>
        <p:nvPicPr>
          <p:cNvPr id="23" name="Image 2" descr="/home/claude/raahsetu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5307" y="2564343"/>
            <a:ext cx="522305" cy="52230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572000" y="32918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aggregates observations and cross-checks them against the pre-loaded timetable dataset.</a:t>
            </a:r>
            <a:endParaRPr lang="en-US" sz="1100" dirty="0"/>
          </a:p>
        </p:txBody>
      </p:sp>
      <p:pic>
        <p:nvPicPr>
          <p:cNvPr id="25" name="Image 3" descr="/home/claude/raahsetu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1524" y="2820924"/>
            <a:ext cx="256032" cy="25603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7909560" y="1783080"/>
            <a:ext cx="32461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FE7DA"/>
            </a:solidFill>
            <a:prstDash val="solid"/>
          </a:ln>
          <a:effectLst>
            <a:outerShdw blurRad="101600" dist="25400" dir="5400000" algn="bl" rotWithShape="0">
              <a:srgbClr val="503429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909560" y="1783080"/>
            <a:ext cx="3246120" cy="457200"/>
          </a:xfrm>
          <a:prstGeom prst="roundRect">
            <a:avLst>
              <a:gd name="adj" fmla="val 20000"/>
            </a:avLst>
          </a:prstGeom>
          <a:solidFill>
            <a:srgbClr val="503429"/>
          </a:solidFill>
          <a:ln/>
        </p:spPr>
      </p:sp>
      <p:sp>
        <p:nvSpPr>
          <p:cNvPr id="28" name="Shape 22"/>
          <p:cNvSpPr/>
          <p:nvPr/>
        </p:nvSpPr>
        <p:spPr>
          <a:xfrm>
            <a:off x="7909560" y="2057400"/>
            <a:ext cx="3246120" cy="182880"/>
          </a:xfrm>
          <a:prstGeom prst="rect">
            <a:avLst/>
          </a:prstGeom>
          <a:solidFill>
            <a:srgbClr val="503429"/>
          </a:solidFill>
          <a:ln/>
        </p:spPr>
      </p:sp>
      <p:sp>
        <p:nvSpPr>
          <p:cNvPr id="29" name="Text 23"/>
          <p:cNvSpPr/>
          <p:nvPr/>
        </p:nvSpPr>
        <p:spPr>
          <a:xfrm>
            <a:off x="8074152" y="18013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8503920" y="180136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9148572" y="2441448"/>
            <a:ext cx="768096" cy="768096"/>
          </a:xfrm>
          <a:prstGeom prst="ellipse">
            <a:avLst/>
          </a:prstGeom>
          <a:solidFill>
            <a:srgbClr val="F6EEE1"/>
          </a:solidFill>
          <a:ln/>
        </p:spPr>
      </p:sp>
      <p:pic>
        <p:nvPicPr>
          <p:cNvPr id="32" name="Image 4" descr="/home/claude/raahsetu/icons/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1467" y="2564343"/>
            <a:ext cx="522305" cy="52230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138160" y="32918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Commuters search source → destination and get available routes with the next expected departure window.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expensive infrastructure required. </a:t>
            </a:r>
            <a:r>
              <a:rPr lang="en-US" sz="1300" dirty="0">
                <a:solidFill>
                  <a:srgbClr val="515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innovation is the crowdsourced data layer for transport that is otherwise digitally invisible.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777240" y="4892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AE5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WORKS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777240" y="5230368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6EEE1"/>
          </a:solidFill>
          <a:ln/>
        </p:spPr>
      </p:sp>
      <p:pic>
        <p:nvPicPr>
          <p:cNvPr id="37" name="Image 5" descr="/home/claude/raahsetu/icons/bo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832" y="5449824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325880" y="5230368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infrastructure requirement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3566160" y="5230368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6EEE1"/>
          </a:solidFill>
          <a:ln/>
        </p:spPr>
      </p:sp>
      <p:pic>
        <p:nvPicPr>
          <p:cNvPr id="40" name="Image 6" descr="/home/claude/raahsetu/icons/us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0752" y="5449824"/>
            <a:ext cx="329184" cy="329184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4114800" y="5230368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Community-powered</a:t>
            </a:r>
            <a:endParaRPr lang="en-US" sz="1050" dirty="0"/>
          </a:p>
        </p:txBody>
      </p:sp>
      <p:sp>
        <p:nvSpPr>
          <p:cNvPr id="42" name="Shape 33"/>
          <p:cNvSpPr/>
          <p:nvPr/>
        </p:nvSpPr>
        <p:spPr>
          <a:xfrm>
            <a:off x="6355080" y="5230368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6EEE1"/>
          </a:solidFill>
          <a:ln/>
        </p:spPr>
      </p:sp>
      <p:pic>
        <p:nvPicPr>
          <p:cNvPr id="43" name="Image 7" descr="/home/claude/raahsetu/icons/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9672" y="5449824"/>
            <a:ext cx="329184" cy="329184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903720" y="5230368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improvable</a:t>
            </a:r>
            <a:endParaRPr lang="en-US" sz="1050" dirty="0"/>
          </a:p>
        </p:txBody>
      </p:sp>
      <p:sp>
        <p:nvSpPr>
          <p:cNvPr id="45" name="Shape 35"/>
          <p:cNvSpPr/>
          <p:nvPr/>
        </p:nvSpPr>
        <p:spPr>
          <a:xfrm>
            <a:off x="9144000" y="5230368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6EEE1"/>
          </a:solidFill>
          <a:ln/>
        </p:spPr>
      </p:sp>
      <p:pic>
        <p:nvPicPr>
          <p:cNvPr id="46" name="Image 8" descr="/home/claude/raahsetu/icons/rou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08592" y="5449824"/>
            <a:ext cx="329184" cy="329184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9692640" y="5230368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underserved routes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3519" y="-1408176"/>
            <a:ext cx="2560320" cy="2560320"/>
          </a:xfrm>
          <a:prstGeom prst="ellipse">
            <a:avLst/>
          </a:prstGeom>
          <a:solidFill>
            <a:srgbClr val="A89C7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11480"/>
            <a:ext cx="2107692" cy="329184"/>
          </a:xfrm>
          <a:prstGeom prst="roundRect">
            <a:avLst>
              <a:gd name="adj" fmla="val 50000"/>
            </a:avLst>
          </a:prstGeom>
          <a:solidFill>
            <a:srgbClr val="AE53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11480"/>
            <a:ext cx="21076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ARCHITECTURE &amp; WORKFLOW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89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A89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RAAHSETU  ·  BUILD WITH BHARAT 2.0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490472"/>
            <a:ext cx="2880360" cy="310896"/>
          </a:xfrm>
          <a:prstGeom prst="roundRect">
            <a:avLst>
              <a:gd name="adj" fmla="val 50000"/>
            </a:avLst>
          </a:prstGeom>
          <a:solidFill>
            <a:srgbClr val="AE5369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49047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· USER ROUTE SEARCH FLOW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1874520"/>
            <a:ext cx="1627632" cy="841248"/>
          </a:xfrm>
          <a:prstGeom prst="roundRect">
            <a:avLst>
              <a:gd name="adj" fmla="val 9783"/>
            </a:avLst>
          </a:prstGeom>
          <a:solidFill>
            <a:srgbClr val="503429"/>
          </a:solidFill>
          <a:ln/>
          <a:effectLst>
            <a:outerShdw blurRad="63500" dist="19050" dir="5400000" algn="bl" rotWithShape="0">
              <a:srgbClr val="503429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874520"/>
            <a:ext cx="148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Commuter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2194560" y="2295144"/>
            <a:ext cx="214884" cy="0"/>
          </a:xfrm>
          <a:prstGeom prst="line">
            <a:avLst/>
          </a:prstGeom>
          <a:noFill/>
          <a:ln w="25400">
            <a:solidFill>
              <a:srgbClr val="A89C7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09444" y="1874520"/>
            <a:ext cx="1627632" cy="841248"/>
          </a:xfrm>
          <a:prstGeom prst="roundRect">
            <a:avLst>
              <a:gd name="adj" fmla="val 9783"/>
            </a:avLst>
          </a:prstGeom>
          <a:solidFill>
            <a:srgbClr val="AE5369"/>
          </a:solidFill>
          <a:ln/>
          <a:effectLst>
            <a:outerShdw blurRad="63500" dist="19050" dir="5400000" algn="bl" rotWithShape="0">
              <a:srgbClr val="503429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82596" y="1874520"/>
            <a:ext cx="148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Source +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4037076" y="2295144"/>
            <a:ext cx="214884" cy="0"/>
          </a:xfrm>
          <a:prstGeom prst="line">
            <a:avLst/>
          </a:prstGeom>
          <a:noFill/>
          <a:ln w="25400">
            <a:solidFill>
              <a:srgbClr val="A89C7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51960" y="1874520"/>
            <a:ext cx="1627632" cy="841248"/>
          </a:xfrm>
          <a:prstGeom prst="roundRect">
            <a:avLst>
              <a:gd name="adj" fmla="val 9783"/>
            </a:avLst>
          </a:prstGeom>
          <a:solidFill>
            <a:srgbClr val="AE5369"/>
          </a:solidFill>
          <a:ln/>
          <a:effectLst>
            <a:outerShdw blurRad="63500" dist="19050" dir="5400000" algn="bl" rotWithShape="0">
              <a:srgbClr val="503429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25112" y="1874520"/>
            <a:ext cx="148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Route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5879592" y="2295144"/>
            <a:ext cx="214884" cy="0"/>
          </a:xfrm>
          <a:prstGeom prst="line">
            <a:avLst/>
          </a:prstGeom>
          <a:noFill/>
          <a:ln w="25400">
            <a:solidFill>
              <a:srgbClr val="A89C7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94476" y="1874520"/>
            <a:ext cx="1627632" cy="841248"/>
          </a:xfrm>
          <a:prstGeom prst="roundRect">
            <a:avLst>
              <a:gd name="adj" fmla="val 9783"/>
            </a:avLst>
          </a:prstGeom>
          <a:solidFill>
            <a:srgbClr val="AE5369"/>
          </a:solidFill>
          <a:ln/>
          <a:effectLst>
            <a:outerShdw blurRad="63500" dist="19050" dir="5400000" algn="bl" rotWithShape="0">
              <a:srgbClr val="503429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67628" y="1874520"/>
            <a:ext cx="148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API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/routes/search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7722108" y="2295144"/>
            <a:ext cx="214884" cy="0"/>
          </a:xfrm>
          <a:prstGeom prst="line">
            <a:avLst/>
          </a:prstGeom>
          <a:noFill/>
          <a:ln w="25400">
            <a:solidFill>
              <a:srgbClr val="A89C7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936992" y="1874520"/>
            <a:ext cx="1627632" cy="841248"/>
          </a:xfrm>
          <a:prstGeom prst="roundRect">
            <a:avLst>
              <a:gd name="adj" fmla="val 9783"/>
            </a:avLst>
          </a:prstGeom>
          <a:solidFill>
            <a:srgbClr val="515335"/>
          </a:solidFill>
          <a:ln/>
          <a:effectLst>
            <a:outerShdw blurRad="63500" dist="19050" dir="5400000" algn="bl" rotWithShape="0">
              <a:srgbClr val="503429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10144" y="1874520"/>
            <a:ext cx="148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SQLite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Dataset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9564624" y="2295144"/>
            <a:ext cx="214884" cy="0"/>
          </a:xfrm>
          <a:prstGeom prst="line">
            <a:avLst/>
          </a:prstGeom>
          <a:noFill/>
          <a:ln w="25400">
            <a:solidFill>
              <a:srgbClr val="A89C7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779508" y="1874520"/>
            <a:ext cx="1627632" cy="841248"/>
          </a:xfrm>
          <a:prstGeom prst="roundRect">
            <a:avLst>
              <a:gd name="adj" fmla="val 9783"/>
            </a:avLst>
          </a:prstGeom>
          <a:solidFill>
            <a:srgbClr val="AE5369"/>
          </a:solidFill>
          <a:ln/>
          <a:effectLst>
            <a:outerShdw blurRad="63500" dist="19050" dir="5400000" algn="bl" rotWithShape="0">
              <a:srgbClr val="503429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852660" y="1874520"/>
            <a:ext cx="148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Route +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Eval. Timetable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10593324" y="2715768"/>
            <a:ext cx="0" cy="320040"/>
          </a:xfrm>
          <a:prstGeom prst="line">
            <a:avLst/>
          </a:prstGeom>
          <a:noFill/>
          <a:ln w="25400">
            <a:solidFill>
              <a:srgbClr val="A89C7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66928" y="3035808"/>
            <a:ext cx="1627632" cy="841248"/>
          </a:xfrm>
          <a:prstGeom prst="roundRect">
            <a:avLst>
              <a:gd name="adj" fmla="val 9783"/>
            </a:avLst>
          </a:prstGeom>
          <a:solidFill>
            <a:srgbClr val="AE5369"/>
          </a:solidFill>
          <a:ln/>
          <a:effectLst>
            <a:outerShdw blurRad="63500" dist="19050" dir="5400000" algn="bl" rotWithShape="0">
              <a:srgbClr val="503429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3035808"/>
            <a:ext cx="148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Next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Departure Window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2194560" y="3456432"/>
            <a:ext cx="214884" cy="0"/>
          </a:xfrm>
          <a:prstGeom prst="line">
            <a:avLst/>
          </a:prstGeom>
          <a:noFill/>
          <a:ln w="25400">
            <a:solidFill>
              <a:srgbClr val="A89C7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409444" y="3035808"/>
            <a:ext cx="1627632" cy="841248"/>
          </a:xfrm>
          <a:prstGeom prst="roundRect">
            <a:avLst>
              <a:gd name="adj" fmla="val 9783"/>
            </a:avLst>
          </a:prstGeom>
          <a:solidFill>
            <a:srgbClr val="A89C70"/>
          </a:solidFill>
          <a:ln/>
          <a:effectLst>
            <a:outerShdw blurRad="63500" dist="19050" dir="5400000" algn="bl" rotWithShape="0">
              <a:srgbClr val="503429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482596" y="3035808"/>
            <a:ext cx="148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Routes +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Timetable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4037076" y="3456432"/>
            <a:ext cx="214884" cy="0"/>
          </a:xfrm>
          <a:prstGeom prst="line">
            <a:avLst/>
          </a:prstGeom>
          <a:noFill/>
          <a:ln w="25400">
            <a:solidFill>
              <a:srgbClr val="A89C7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251960" y="3035808"/>
            <a:ext cx="1627632" cy="841248"/>
          </a:xfrm>
          <a:prstGeom prst="roundRect">
            <a:avLst>
              <a:gd name="adj" fmla="val 9783"/>
            </a:avLst>
          </a:prstGeom>
          <a:solidFill>
            <a:srgbClr val="503429"/>
          </a:solidFill>
          <a:ln/>
          <a:effectLst>
            <a:outerShdw blurRad="63500" dist="19050" dir="5400000" algn="bl" rotWithShape="0">
              <a:srgbClr val="503429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325112" y="3035808"/>
            <a:ext cx="148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Commuter Plans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566928" y="4325112"/>
            <a:ext cx="2880360" cy="310896"/>
          </a:xfrm>
          <a:prstGeom prst="roundRect">
            <a:avLst>
              <a:gd name="adj" fmla="val 50000"/>
            </a:avLst>
          </a:prstGeom>
          <a:solidFill>
            <a:srgbClr val="515335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32511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CROWDSOURCED VALIDATION LOOP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6928" y="4709160"/>
            <a:ext cx="1627632" cy="841248"/>
          </a:xfrm>
          <a:prstGeom prst="roundRect">
            <a:avLst>
              <a:gd name="adj" fmla="val 9783"/>
            </a:avLst>
          </a:prstGeom>
          <a:solidFill>
            <a:srgbClr val="503429"/>
          </a:solidFill>
          <a:ln/>
          <a:effectLst>
            <a:outerShdw blurRad="63500" dist="19050" dir="5400000" algn="bl" rotWithShape="0">
              <a:srgbClr val="503429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0080" y="4709160"/>
            <a:ext cx="148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 Observes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Departure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2194560" y="5129784"/>
            <a:ext cx="214884" cy="0"/>
          </a:xfrm>
          <a:prstGeom prst="line">
            <a:avLst/>
          </a:prstGeom>
          <a:noFill/>
          <a:ln w="25400">
            <a:solidFill>
              <a:srgbClr val="A89C7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2409444" y="4709160"/>
            <a:ext cx="1627632" cy="841248"/>
          </a:xfrm>
          <a:prstGeom prst="roundRect">
            <a:avLst>
              <a:gd name="adj" fmla="val 9783"/>
            </a:avLst>
          </a:prstGeom>
          <a:solidFill>
            <a:srgbClr val="AE5369"/>
          </a:solidFill>
          <a:ln/>
          <a:effectLst>
            <a:outerShdw blurRad="63500" dist="19050" dir="5400000" algn="bl" rotWithShape="0">
              <a:srgbClr val="503429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482596" y="4709160"/>
            <a:ext cx="148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/ Delay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</a:t>
            </a:r>
            <a:endParaRPr lang="en-US" sz="970" dirty="0"/>
          </a:p>
        </p:txBody>
      </p:sp>
      <p:sp>
        <p:nvSpPr>
          <p:cNvPr id="43" name="Shape 41"/>
          <p:cNvSpPr/>
          <p:nvPr/>
        </p:nvSpPr>
        <p:spPr>
          <a:xfrm>
            <a:off x="4037076" y="5129784"/>
            <a:ext cx="214884" cy="0"/>
          </a:xfrm>
          <a:prstGeom prst="line">
            <a:avLst/>
          </a:prstGeom>
          <a:noFill/>
          <a:ln w="25400">
            <a:solidFill>
              <a:srgbClr val="A89C7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251960" y="4709160"/>
            <a:ext cx="1627632" cy="841248"/>
          </a:xfrm>
          <a:prstGeom prst="roundRect">
            <a:avLst>
              <a:gd name="adj" fmla="val 9783"/>
            </a:avLst>
          </a:prstGeom>
          <a:solidFill>
            <a:srgbClr val="AE5369"/>
          </a:solidFill>
          <a:ln/>
          <a:effectLst>
            <a:outerShdw blurRad="63500" dist="19050" dir="5400000" algn="bl" rotWithShape="0">
              <a:srgbClr val="503429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325112" y="4709160"/>
            <a:ext cx="148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Crowdsourced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Layer</a:t>
            </a:r>
            <a:endParaRPr lang="en-US" sz="970" dirty="0"/>
          </a:p>
        </p:txBody>
      </p:sp>
      <p:sp>
        <p:nvSpPr>
          <p:cNvPr id="46" name="Shape 44"/>
          <p:cNvSpPr/>
          <p:nvPr/>
        </p:nvSpPr>
        <p:spPr>
          <a:xfrm>
            <a:off x="5879592" y="5129784"/>
            <a:ext cx="214884" cy="0"/>
          </a:xfrm>
          <a:prstGeom prst="line">
            <a:avLst/>
          </a:prstGeom>
          <a:noFill/>
          <a:ln w="25400">
            <a:solidFill>
              <a:srgbClr val="A89C7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094476" y="4709160"/>
            <a:ext cx="1627632" cy="841248"/>
          </a:xfrm>
          <a:prstGeom prst="roundRect">
            <a:avLst>
              <a:gd name="adj" fmla="val 9783"/>
            </a:avLst>
          </a:prstGeom>
          <a:solidFill>
            <a:srgbClr val="AE5369"/>
          </a:solidFill>
          <a:ln/>
          <a:effectLst>
            <a:outerShdw blurRad="63500" dist="19050" dir="5400000" algn="bl" rotWithShape="0">
              <a:srgbClr val="503429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167628" y="4709160"/>
            <a:ext cx="148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Timetable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970" dirty="0"/>
          </a:p>
        </p:txBody>
      </p:sp>
      <p:sp>
        <p:nvSpPr>
          <p:cNvPr id="49" name="Shape 47"/>
          <p:cNvSpPr/>
          <p:nvPr/>
        </p:nvSpPr>
        <p:spPr>
          <a:xfrm>
            <a:off x="7722108" y="5129784"/>
            <a:ext cx="214884" cy="0"/>
          </a:xfrm>
          <a:prstGeom prst="line">
            <a:avLst/>
          </a:prstGeom>
          <a:noFill/>
          <a:ln w="25400">
            <a:solidFill>
              <a:srgbClr val="A89C70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7936992" y="4709160"/>
            <a:ext cx="1627632" cy="841248"/>
          </a:xfrm>
          <a:prstGeom prst="roundRect">
            <a:avLst>
              <a:gd name="adj" fmla="val 9783"/>
            </a:avLst>
          </a:prstGeom>
          <a:solidFill>
            <a:srgbClr val="515335"/>
          </a:solidFill>
          <a:ln/>
          <a:effectLst>
            <a:outerShdw blurRad="63500" dist="19050" dir="5400000" algn="bl" rotWithShape="0">
              <a:srgbClr val="503429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8010144" y="4709160"/>
            <a:ext cx="148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Route /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Info</a:t>
            </a:r>
            <a:endParaRPr lang="en-US" sz="970" dirty="0"/>
          </a:p>
        </p:txBody>
      </p:sp>
      <p:sp>
        <p:nvSpPr>
          <p:cNvPr id="52" name="Shape 50"/>
          <p:cNvSpPr/>
          <p:nvPr/>
        </p:nvSpPr>
        <p:spPr>
          <a:xfrm>
            <a:off x="9564624" y="5129784"/>
            <a:ext cx="214884" cy="0"/>
          </a:xfrm>
          <a:prstGeom prst="line">
            <a:avLst/>
          </a:prstGeom>
          <a:noFill/>
          <a:ln w="25400">
            <a:solidFill>
              <a:srgbClr val="A89C70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9779508" y="4709160"/>
            <a:ext cx="1627632" cy="841248"/>
          </a:xfrm>
          <a:prstGeom prst="roundRect">
            <a:avLst>
              <a:gd name="adj" fmla="val 9783"/>
            </a:avLst>
          </a:prstGeom>
          <a:solidFill>
            <a:srgbClr val="515335"/>
          </a:solidFill>
          <a:ln/>
          <a:effectLst>
            <a:outerShdw blurRad="63500" dist="19050" dir="5400000" algn="bl" rotWithShape="0">
              <a:srgbClr val="503429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9852660" y="4709160"/>
            <a:ext cx="148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Future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Estimates</a:t>
            </a:r>
            <a:endParaRPr lang="en-US" sz="970" dirty="0"/>
          </a:p>
        </p:txBody>
      </p:sp>
      <p:sp>
        <p:nvSpPr>
          <p:cNvPr id="55" name="Shape 53"/>
          <p:cNvSpPr/>
          <p:nvPr/>
        </p:nvSpPr>
        <p:spPr>
          <a:xfrm>
            <a:off x="8750808" y="2715768"/>
            <a:ext cx="1842516" cy="1993392"/>
          </a:xfrm>
          <a:prstGeom prst="line">
            <a:avLst/>
          </a:prstGeom>
          <a:noFill/>
          <a:ln w="22225">
            <a:solidFill>
              <a:srgbClr val="D58198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8567928" y="35753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D58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improves the data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138160" y="598932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503429"/>
          </a:solidFill>
          <a:ln/>
        </p:spPr>
      </p:sp>
      <p:sp>
        <p:nvSpPr>
          <p:cNvPr id="58" name="Text 56"/>
          <p:cNvSpPr/>
          <p:nvPr/>
        </p:nvSpPr>
        <p:spPr>
          <a:xfrm>
            <a:off x="8394192" y="5943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125712" y="598932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AE5369"/>
          </a:solidFill>
          <a:ln/>
        </p:spPr>
      </p:sp>
      <p:sp>
        <p:nvSpPr>
          <p:cNvPr id="60" name="Text 58"/>
          <p:cNvSpPr/>
          <p:nvPr/>
        </p:nvSpPr>
        <p:spPr>
          <a:xfrm>
            <a:off x="9381744" y="5943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0113264" y="598932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515335"/>
          </a:solidFill>
          <a:ln/>
        </p:spPr>
      </p:sp>
      <p:sp>
        <p:nvSpPr>
          <p:cNvPr id="62" name="Text 60"/>
          <p:cNvSpPr/>
          <p:nvPr/>
        </p:nvSpPr>
        <p:spPr>
          <a:xfrm>
            <a:off x="10369296" y="5943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1100816" y="598932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A89C70"/>
          </a:solidFill>
          <a:ln/>
        </p:spPr>
      </p:sp>
      <p:sp>
        <p:nvSpPr>
          <p:cNvPr id="64" name="Text 62"/>
          <p:cNvSpPr/>
          <p:nvPr/>
        </p:nvSpPr>
        <p:spPr>
          <a:xfrm>
            <a:off x="11356848" y="5943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66928" y="597103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15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searches consume the data — passenger observations continuously improve it.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08760" y="5349240"/>
            <a:ext cx="2743200" cy="2743200"/>
          </a:xfrm>
          <a:prstGeom prst="ellipse">
            <a:avLst/>
          </a:prstGeom>
          <a:solidFill>
            <a:srgbClr val="A89C7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11480"/>
            <a:ext cx="2231136" cy="329184"/>
          </a:xfrm>
          <a:prstGeom prst="roundRect">
            <a:avLst>
              <a:gd name="adj" fmla="val 50000"/>
            </a:avLst>
          </a:prstGeom>
          <a:solidFill>
            <a:srgbClr val="AE53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11480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89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A89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RAAHSETU  ·  BUILD WITH BHARAT 2.0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2615184" cy="333756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EFE7DA"/>
            </a:solidFill>
            <a:prstDash val="solid"/>
          </a:ln>
          <a:effectLst>
            <a:outerShdw blurRad="76200" dist="25400" dir="5400000" algn="bl" rotWithShape="0">
              <a:srgbClr val="503429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81328" y="1947672"/>
            <a:ext cx="658368" cy="658368"/>
          </a:xfrm>
          <a:prstGeom prst="ellipse">
            <a:avLst/>
          </a:prstGeom>
          <a:solidFill>
            <a:srgbClr val="AE5369"/>
          </a:solidFill>
          <a:ln/>
        </p:spPr>
      </p:sp>
      <p:pic>
        <p:nvPicPr>
          <p:cNvPr id="10" name="Image 0" descr="/home/claude/raahsetu/icons/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964" y="2053011"/>
            <a:ext cx="447690" cy="44769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269748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AE5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" y="299008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+ JavaScript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58952" y="3566160"/>
            <a:ext cx="2157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→ destination search</a:t>
            </a:r>
            <a:endParaRPr lang="en-US" sz="103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Timetable list view</a:t>
            </a:r>
            <a:endParaRPr lang="en-US" sz="103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route queries</a:t>
            </a:r>
            <a:endParaRPr lang="en-US" sz="103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Next-departure display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3319272" y="1691640"/>
            <a:ext cx="2615184" cy="333756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EFE7DA"/>
            </a:solidFill>
            <a:prstDash val="solid"/>
          </a:ln>
          <a:effectLst>
            <a:outerShdw blurRad="76200" dist="25400" dir="5400000" algn="bl" rotWithShape="0">
              <a:srgbClr val="503429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97680" y="1947672"/>
            <a:ext cx="658368" cy="658368"/>
          </a:xfrm>
          <a:prstGeom prst="ellipse">
            <a:avLst/>
          </a:prstGeom>
          <a:solidFill>
            <a:srgbClr val="503429"/>
          </a:solidFill>
          <a:ln/>
        </p:spPr>
      </p:sp>
      <p:pic>
        <p:nvPicPr>
          <p:cNvPr id="16" name="Image 1" descr="/home/claude/raahsetu/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3019" y="2053011"/>
            <a:ext cx="447690" cy="44769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19272" y="269748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410712" y="299008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Flask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3575304" y="3566160"/>
            <a:ext cx="2157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/routes/search endpoint</a:t>
            </a:r>
            <a:endParaRPr lang="en-US" sz="103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querying</a:t>
            </a:r>
            <a:endParaRPr lang="en-US" sz="103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Timetable evaluation</a:t>
            </a:r>
            <a:endParaRPr lang="en-US" sz="103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Departure-window calculation</a:t>
            </a:r>
            <a:endParaRPr lang="en-US" sz="1030" dirty="0"/>
          </a:p>
        </p:txBody>
      </p:sp>
      <p:sp>
        <p:nvSpPr>
          <p:cNvPr id="20" name="Shape 16"/>
          <p:cNvSpPr/>
          <p:nvPr/>
        </p:nvSpPr>
        <p:spPr>
          <a:xfrm>
            <a:off x="6135624" y="1691640"/>
            <a:ext cx="2615184" cy="333756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EFE7DA"/>
            </a:solidFill>
            <a:prstDash val="solid"/>
          </a:ln>
          <a:effectLst>
            <a:outerShdw blurRad="76200" dist="25400" dir="5400000" algn="bl" rotWithShape="0">
              <a:srgbClr val="503429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114032" y="1947672"/>
            <a:ext cx="658368" cy="658368"/>
          </a:xfrm>
          <a:prstGeom prst="ellipse">
            <a:avLst/>
          </a:prstGeom>
          <a:solidFill>
            <a:srgbClr val="515335"/>
          </a:solidFill>
          <a:ln/>
        </p:spPr>
      </p:sp>
      <p:pic>
        <p:nvPicPr>
          <p:cNvPr id="22" name="Image 2" descr="/home/claude/raahsetu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9371" y="2062155"/>
            <a:ext cx="447690" cy="44769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35624" y="269748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515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227064" y="299008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6391656" y="3566160"/>
            <a:ext cx="2157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Feeder routes</a:t>
            </a:r>
            <a:endParaRPr lang="en-US" sz="103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Roadways</a:t>
            </a:r>
            <a:endParaRPr lang="en-US" sz="103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timings</a:t>
            </a:r>
            <a:endParaRPr lang="en-US" sz="103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Pre-loaded timetable data</a:t>
            </a:r>
            <a:endParaRPr lang="en-US" sz="1030" dirty="0"/>
          </a:p>
        </p:txBody>
      </p:sp>
      <p:sp>
        <p:nvSpPr>
          <p:cNvPr id="26" name="Shape 21"/>
          <p:cNvSpPr/>
          <p:nvPr/>
        </p:nvSpPr>
        <p:spPr>
          <a:xfrm>
            <a:off x="8951976" y="1691640"/>
            <a:ext cx="2615184" cy="333756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EFE7DA"/>
            </a:solidFill>
            <a:prstDash val="solid"/>
          </a:ln>
          <a:effectLst>
            <a:outerShdw blurRad="76200" dist="25400" dir="5400000" algn="bl" rotWithShape="0">
              <a:srgbClr val="503429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930384" y="1947672"/>
            <a:ext cx="658368" cy="658368"/>
          </a:xfrm>
          <a:prstGeom prst="ellipse">
            <a:avLst/>
          </a:prstGeom>
          <a:solidFill>
            <a:srgbClr val="A89C70"/>
          </a:solidFill>
          <a:ln/>
        </p:spPr>
      </p:sp>
      <p:pic>
        <p:nvPicPr>
          <p:cNvPr id="28" name="Image 3" descr="/home/claude/raahsetu/icons/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5723" y="2062155"/>
            <a:ext cx="447690" cy="44769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951976" y="269748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7A6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LOGIC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9043416" y="299008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Matching + ETA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9208008" y="3566160"/>
            <a:ext cx="2157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requested route</a:t>
            </a:r>
            <a:endParaRPr lang="en-US" sz="103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timetable</a:t>
            </a:r>
            <a:endParaRPr lang="en-US" sz="103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current time</a:t>
            </a:r>
            <a:endParaRPr lang="en-US" sz="103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next vehicle window</a:t>
            </a:r>
            <a:endParaRPr lang="en-US" sz="1030" dirty="0"/>
          </a:p>
        </p:txBody>
      </p:sp>
      <p:sp>
        <p:nvSpPr>
          <p:cNvPr id="32" name="Shape 26"/>
          <p:cNvSpPr/>
          <p:nvPr/>
        </p:nvSpPr>
        <p:spPr>
          <a:xfrm>
            <a:off x="502920" y="5257800"/>
            <a:ext cx="11183112" cy="868680"/>
          </a:xfrm>
          <a:prstGeom prst="roundRect">
            <a:avLst>
              <a:gd name="adj" fmla="val 10526"/>
            </a:avLst>
          </a:prstGeom>
          <a:solidFill>
            <a:srgbClr val="503429"/>
          </a:solidFill>
          <a:ln/>
        </p:spPr>
      </p:sp>
      <p:sp>
        <p:nvSpPr>
          <p:cNvPr id="33" name="Text 27"/>
          <p:cNvSpPr/>
          <p:nvPr/>
        </p:nvSpPr>
        <p:spPr>
          <a:xfrm>
            <a:off x="502920" y="5257800"/>
            <a:ext cx="27957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/ JS</a:t>
            </a:r>
            <a:endParaRPr lang="en-US" sz="1500" dirty="0"/>
          </a:p>
        </p:txBody>
      </p:sp>
      <p:pic>
        <p:nvPicPr>
          <p:cNvPr id="34" name="Image 4" descr="/home/claude/raahsetu/icons/arrowr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4106" y="5568696"/>
            <a:ext cx="256032" cy="25603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298698" y="5257800"/>
            <a:ext cx="27957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API</a:t>
            </a:r>
            <a:endParaRPr lang="en-US" sz="1500" dirty="0"/>
          </a:p>
        </p:txBody>
      </p:sp>
      <p:pic>
        <p:nvPicPr>
          <p:cNvPr id="36" name="Image 5" descr="/home/claude/raahsetu/icons/arrowr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9884" y="5568696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094476" y="5257800"/>
            <a:ext cx="27957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Engine</a:t>
            </a:r>
            <a:endParaRPr lang="en-US" sz="1500" dirty="0"/>
          </a:p>
        </p:txBody>
      </p:sp>
      <p:pic>
        <p:nvPicPr>
          <p:cNvPr id="38" name="Image 6" descr="/home/claude/raahsetu/icons/arrowr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5662" y="5568696"/>
            <a:ext cx="256032" cy="25603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8890254" y="5257800"/>
            <a:ext cx="27957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82935" y="-1508760"/>
            <a:ext cx="2743200" cy="2743200"/>
          </a:xfrm>
          <a:prstGeom prst="ellipse">
            <a:avLst/>
          </a:prstGeom>
          <a:solidFill>
            <a:srgbClr val="D5819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114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AE53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11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DIFFERENT?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89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A89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RAAHSETU  ·  BUILD WITH BHARAT 2.0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45920"/>
            <a:ext cx="212140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FE7DA"/>
            </a:solidFill>
            <a:prstDash val="solid"/>
          </a:ln>
          <a:effectLst>
            <a:outerShdw blurRad="76200" dist="25400" dir="5400000" algn="bl" rotWithShape="0">
              <a:srgbClr val="5034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2648" y="17190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58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057400" y="1773936"/>
            <a:ext cx="420624" cy="420624"/>
          </a:xfrm>
          <a:prstGeom prst="ellipse">
            <a:avLst/>
          </a:prstGeom>
          <a:solidFill>
            <a:srgbClr val="F6EEE1"/>
          </a:solidFill>
          <a:ln/>
        </p:spPr>
      </p:sp>
      <p:pic>
        <p:nvPicPr>
          <p:cNvPr id="11" name="Image 0" descr="/home/claude/raahsetu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494" y="1837030"/>
            <a:ext cx="294437" cy="29443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30936" y="2212848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Crowdsourced Timetable Validation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30936" y="2779776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0" dirty="0">
                <a:solidFill>
                  <a:srgbClr val="515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Passengers become contributors to the transport information layer.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2798064" y="1645920"/>
            <a:ext cx="212140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FE7DA"/>
            </a:solidFill>
            <a:prstDash val="solid"/>
          </a:ln>
          <a:effectLst>
            <a:outerShdw blurRad="76200" dist="25400" dir="5400000" algn="bl" rotWithShape="0">
              <a:srgbClr val="503429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907792" y="17190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58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352544" y="1773936"/>
            <a:ext cx="420624" cy="420624"/>
          </a:xfrm>
          <a:prstGeom prst="ellipse">
            <a:avLst/>
          </a:prstGeom>
          <a:solidFill>
            <a:srgbClr val="F6EEE1"/>
          </a:solidFill>
          <a:ln/>
        </p:spPr>
      </p:sp>
      <p:pic>
        <p:nvPicPr>
          <p:cNvPr id="17" name="Image 1" descr="/home/claude/raahsetu/icons/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5638" y="1837030"/>
            <a:ext cx="294437" cy="29443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926080" y="2212848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Visibility for Informal Routes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2926080" y="2779776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0" dirty="0">
                <a:solidFill>
                  <a:srgbClr val="515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Brings shared tempos, feeder routes and local buses into a searchable interface.</a:t>
            </a:r>
            <a:endParaRPr lang="en-US" sz="930" dirty="0"/>
          </a:p>
        </p:txBody>
      </p:sp>
      <p:sp>
        <p:nvSpPr>
          <p:cNvPr id="20" name="Shape 16"/>
          <p:cNvSpPr/>
          <p:nvPr/>
        </p:nvSpPr>
        <p:spPr>
          <a:xfrm>
            <a:off x="5093208" y="1645920"/>
            <a:ext cx="212140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FE7DA"/>
            </a:solidFill>
            <a:prstDash val="solid"/>
          </a:ln>
          <a:effectLst>
            <a:outerShdw blurRad="76200" dist="25400" dir="5400000" algn="bl" rotWithShape="0">
              <a:srgbClr val="503429">
                <a:alpha val="1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5202936" y="17190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58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6647688" y="1773936"/>
            <a:ext cx="420624" cy="420624"/>
          </a:xfrm>
          <a:prstGeom prst="ellipse">
            <a:avLst/>
          </a:prstGeom>
          <a:solidFill>
            <a:srgbClr val="F6EEE1"/>
          </a:solidFill>
          <a:ln/>
        </p:spPr>
      </p:sp>
      <p:pic>
        <p:nvPicPr>
          <p:cNvPr id="23" name="Image 2" descr="/home/claude/raahsetu/icons/clockwa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0782" y="1837030"/>
            <a:ext cx="294437" cy="29443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21224" y="2212848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Expected Departure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5221224" y="2779776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0" dirty="0">
                <a:solidFill>
                  <a:srgbClr val="515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the next expected vehicle window instead of a static timetable.</a:t>
            </a:r>
            <a:endParaRPr lang="en-US" sz="930" dirty="0"/>
          </a:p>
        </p:txBody>
      </p:sp>
      <p:sp>
        <p:nvSpPr>
          <p:cNvPr id="26" name="Shape 21"/>
          <p:cNvSpPr/>
          <p:nvPr/>
        </p:nvSpPr>
        <p:spPr>
          <a:xfrm>
            <a:off x="7388352" y="1645920"/>
            <a:ext cx="212140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FE7DA"/>
            </a:solidFill>
            <a:prstDash val="solid"/>
          </a:ln>
          <a:effectLst>
            <a:outerShdw blurRad="76200" dist="25400" dir="5400000" algn="bl" rotWithShape="0">
              <a:srgbClr val="503429">
                <a:alpha val="10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7498080" y="17190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58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8942832" y="1773936"/>
            <a:ext cx="420624" cy="420624"/>
          </a:xfrm>
          <a:prstGeom prst="ellipse">
            <a:avLst/>
          </a:prstGeom>
          <a:solidFill>
            <a:srgbClr val="F6EEE1"/>
          </a:solidFill>
          <a:ln/>
        </p:spPr>
      </p:sp>
      <p:pic>
        <p:nvPicPr>
          <p:cNvPr id="29" name="Image 3" descr="/home/claude/raahsetu/icons/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5926" y="1837030"/>
            <a:ext cx="294437" cy="294437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516368" y="2212848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Community-Corrected Data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7516368" y="2779776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0" dirty="0">
                <a:solidFill>
                  <a:srgbClr val="515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 observations surface discrepancies between scheduled and actual timings.</a:t>
            </a:r>
            <a:endParaRPr lang="en-US" sz="930" dirty="0"/>
          </a:p>
        </p:txBody>
      </p:sp>
      <p:sp>
        <p:nvSpPr>
          <p:cNvPr id="32" name="Shape 26"/>
          <p:cNvSpPr/>
          <p:nvPr/>
        </p:nvSpPr>
        <p:spPr>
          <a:xfrm>
            <a:off x="9683496" y="1645920"/>
            <a:ext cx="212140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FE7DA"/>
            </a:solidFill>
            <a:prstDash val="solid"/>
          </a:ln>
          <a:effectLst>
            <a:outerShdw blurRad="76200" dist="25400" dir="5400000" algn="bl" rotWithShape="0">
              <a:srgbClr val="503429">
                <a:alpha val="10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9793224" y="17190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58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34" name="Shape 28"/>
          <p:cNvSpPr/>
          <p:nvPr/>
        </p:nvSpPr>
        <p:spPr>
          <a:xfrm>
            <a:off x="11237976" y="1773936"/>
            <a:ext cx="420624" cy="420624"/>
          </a:xfrm>
          <a:prstGeom prst="ellipse">
            <a:avLst/>
          </a:prstGeom>
          <a:solidFill>
            <a:srgbClr val="F6EEE1"/>
          </a:solidFill>
          <a:ln/>
        </p:spPr>
      </p:sp>
      <p:pic>
        <p:nvPicPr>
          <p:cNvPr id="35" name="Image 4" descr="/home/claude/raahsetu/icons/bo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75920" y="1867205"/>
            <a:ext cx="294437" cy="294437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811512" y="2212848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Low-Infrastructure Deployment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9811512" y="2779776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0" dirty="0">
                <a:solidFill>
                  <a:srgbClr val="515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with a pre-loaded dataset and improves through community observations.</a:t>
            </a:r>
            <a:endParaRPr lang="en-US" sz="930" dirty="0"/>
          </a:p>
        </p:txBody>
      </p:sp>
      <p:sp>
        <p:nvSpPr>
          <p:cNvPr id="38" name="Shape 31"/>
          <p:cNvSpPr/>
          <p:nvPr/>
        </p:nvSpPr>
        <p:spPr>
          <a:xfrm>
            <a:off x="502920" y="3657600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AE5369"/>
          </a:solidFill>
          <a:ln/>
        </p:spPr>
      </p:sp>
      <p:pic>
        <p:nvPicPr>
          <p:cNvPr id="39" name="Image 5" descr="/home/claude/raahsetu/icons/lightbu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3877056"/>
            <a:ext cx="347472" cy="34747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325880" y="36576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i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“Google Maps can map the road. We map the transport knowledge that never made it online.”</a:t>
            </a:r>
            <a:endParaRPr lang="en-US" sz="1650" dirty="0"/>
          </a:p>
        </p:txBody>
      </p:sp>
      <p:sp>
        <p:nvSpPr>
          <p:cNvPr id="41" name="Shape 33"/>
          <p:cNvSpPr/>
          <p:nvPr/>
        </p:nvSpPr>
        <p:spPr>
          <a:xfrm>
            <a:off x="502920" y="470916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6EEE1"/>
          </a:solidFill>
          <a:ln/>
        </p:spPr>
      </p:sp>
      <p:sp>
        <p:nvSpPr>
          <p:cNvPr id="42" name="Shape 34"/>
          <p:cNvSpPr/>
          <p:nvPr/>
        </p:nvSpPr>
        <p:spPr>
          <a:xfrm>
            <a:off x="502920" y="470916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503429"/>
          </a:solidFill>
          <a:ln/>
        </p:spPr>
      </p:sp>
      <p:sp>
        <p:nvSpPr>
          <p:cNvPr id="43" name="Text 35"/>
          <p:cNvSpPr/>
          <p:nvPr/>
        </p:nvSpPr>
        <p:spPr>
          <a:xfrm>
            <a:off x="502920" y="4709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MVP</a:t>
            </a:r>
            <a:endParaRPr lang="en-US" sz="1050" dirty="0"/>
          </a:p>
        </p:txBody>
      </p:sp>
      <p:sp>
        <p:nvSpPr>
          <p:cNvPr id="44" name="Text 36"/>
          <p:cNvSpPr/>
          <p:nvPr/>
        </p:nvSpPr>
        <p:spPr>
          <a:xfrm>
            <a:off x="758952" y="5184648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Pre-loaded local transport dataset</a:t>
            </a:r>
            <a:endParaRPr lang="en-US" sz="1050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search</a:t>
            </a:r>
            <a:endParaRPr lang="en-US" sz="1050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Timetable list</a:t>
            </a:r>
            <a:endParaRPr lang="en-US" sz="1050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expected departure</a:t>
            </a:r>
            <a:endParaRPr lang="en-US" sz="1050" dirty="0"/>
          </a:p>
        </p:txBody>
      </p:sp>
      <p:sp>
        <p:nvSpPr>
          <p:cNvPr id="45" name="Shape 37"/>
          <p:cNvSpPr/>
          <p:nvPr/>
        </p:nvSpPr>
        <p:spPr>
          <a:xfrm>
            <a:off x="6245352" y="470916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6EEE1"/>
          </a:solidFill>
          <a:ln/>
        </p:spPr>
      </p:sp>
      <p:sp>
        <p:nvSpPr>
          <p:cNvPr id="46" name="Shape 38"/>
          <p:cNvSpPr/>
          <p:nvPr/>
        </p:nvSpPr>
        <p:spPr>
          <a:xfrm>
            <a:off x="6245352" y="470916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A89C70"/>
          </a:solidFill>
          <a:ln/>
        </p:spPr>
      </p:sp>
      <p:sp>
        <p:nvSpPr>
          <p:cNvPr id="47" name="Text 39"/>
          <p:cNvSpPr/>
          <p:nvPr/>
        </p:nvSpPr>
        <p:spPr>
          <a:xfrm>
            <a:off x="6245352" y="4709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EXPANSION</a:t>
            </a:r>
            <a:endParaRPr lang="en-US" sz="1050" dirty="0"/>
          </a:p>
        </p:txBody>
      </p:sp>
      <p:sp>
        <p:nvSpPr>
          <p:cNvPr id="48" name="Text 40"/>
          <p:cNvSpPr/>
          <p:nvPr/>
        </p:nvSpPr>
        <p:spPr>
          <a:xfrm>
            <a:off x="6501384" y="5184648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crowdsourced network</a:t>
            </a:r>
            <a:endParaRPr lang="en-US" sz="1050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route coverage</a:t>
            </a:r>
            <a:endParaRPr lang="en-US" sz="1050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scoring</a:t>
            </a:r>
            <a:endParaRPr lang="en-US" sz="1050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anomaly detection</a:t>
            </a:r>
            <a:endParaRPr lang="en-US" sz="1050" dirty="0"/>
          </a:p>
          <a:p>
            <a:pPr marL="152400" indent="-152400" algn="l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Wider rural / feeder integration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07592" y="5550408"/>
            <a:ext cx="2377440" cy="2377440"/>
          </a:xfrm>
          <a:prstGeom prst="ellipse">
            <a:avLst/>
          </a:prstGeom>
          <a:solidFill>
            <a:srgbClr val="515335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11480"/>
            <a:ext cx="1613916" cy="329184"/>
          </a:xfrm>
          <a:prstGeom prst="roundRect">
            <a:avLst>
              <a:gd name="adj" fmla="val 50000"/>
            </a:avLst>
          </a:prstGeom>
          <a:solidFill>
            <a:srgbClr val="AE53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11480"/>
            <a:ext cx="16139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FEASIBILITY, CHALLENGES &amp; COMPETITION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89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A89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RAAHSETU  ·  BUILD WITH BHARAT 2.0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64592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FE7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828800"/>
            <a:ext cx="457200" cy="457200"/>
          </a:xfrm>
          <a:prstGeom prst="ellipse">
            <a:avLst/>
          </a:prstGeom>
          <a:solidFill>
            <a:srgbClr val="515335"/>
          </a:solidFill>
          <a:ln/>
        </p:spPr>
      </p:sp>
      <p:pic>
        <p:nvPicPr>
          <p:cNvPr id="10" name="Image 0" descr="/home/claude/raahsetu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89738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515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77240" y="2359152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web technologies throughout</a:t>
            </a:r>
            <a:endParaRPr lang="en-US" sz="10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allows rapid deployment</a:t>
            </a:r>
            <a:endParaRPr lang="en-US" sz="10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specialised hardware required</a:t>
            </a:r>
            <a:endParaRPr lang="en-US" sz="10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begin with a single locality</a:t>
            </a:r>
            <a:endParaRPr lang="en-US" sz="10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Crowdsourcing scales the data-generation mechanism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6245352" y="164592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FE7D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28232" y="1828800"/>
            <a:ext cx="457200" cy="457200"/>
          </a:xfrm>
          <a:prstGeom prst="ellipse">
            <a:avLst/>
          </a:prstGeom>
          <a:solidFill>
            <a:srgbClr val="AE5369"/>
          </a:solidFill>
          <a:ln/>
        </p:spPr>
      </p:sp>
      <p:pic>
        <p:nvPicPr>
          <p:cNvPr id="15" name="Image 1" descr="/home/claude/raahsetu/icons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812" y="189738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76872" y="18288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AE5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MITIGATION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519672" y="2359152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initial data → mitigated by multiple-observation validation thresholds</a:t>
            </a:r>
            <a:endParaRPr lang="en-US" sz="103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passenger reports → confidence scoring in future versions</a:t>
            </a:r>
            <a:endParaRPr lang="en-US" sz="103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changes → continuous crowdsourced updates</a:t>
            </a:r>
            <a:endParaRPr lang="en-US" sz="103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digital participation → local, gradual route-by-route rollout</a:t>
            </a:r>
            <a:endParaRPr lang="en-US" sz="1030" dirty="0"/>
          </a:p>
        </p:txBody>
      </p:sp>
      <p:pic>
        <p:nvPicPr>
          <p:cNvPr id="18" name="Image 2" descr="/home/claude/raahsetu/icons/comp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40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/ ALTERNATIVE ANALYSIS</a:t>
            </a:r>
            <a:endParaRPr lang="en-US" sz="13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297680"/>
          <a:ext cx="11183112" cy="2148840"/>
        </p:xfrm>
        <a:graphic>
          <a:graphicData uri="http://schemas.openxmlformats.org/drawingml/2006/table">
            <a:tbl>
              <a:tblPr/>
              <a:tblGrid>
                <a:gridCol w="3227832"/>
                <a:gridCol w="2148840"/>
                <a:gridCol w="2148840"/>
                <a:gridCol w="1828800"/>
                <a:gridCol w="1828800"/>
              </a:tblGrid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34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Mainstream Maps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34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Static Timetable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34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Local Knowledge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34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RaahSetu</a:t>
                      </a:r>
                      <a:endParaRPr lang="en-US" sz="105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5369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503429"/>
                          </a:solidFill>
                        </a:rPr>
                        <a:t>Route discovery</a:t>
                      </a:r>
                      <a:endParaRPr lang="en-US" sz="103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503429"/>
                          </a:solidFill>
                        </a:rPr>
                        <a:t>✓</a:t>
                      </a:r>
                      <a:endParaRPr lang="en-US" sz="103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503429"/>
                          </a:solidFill>
                        </a:rPr>
                        <a:t>Limited</a:t>
                      </a:r>
                      <a:endParaRPr lang="en-US" sz="103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503429"/>
                          </a:solidFill>
                        </a:rPr>
                        <a:t>✓</a:t>
                      </a:r>
                      <a:endParaRPr lang="en-US" sz="103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503429"/>
                          </a:solidFill>
                        </a:rPr>
                        <a:t>✓</a:t>
                      </a:r>
                      <a:endParaRPr lang="en-US" sz="103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1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503429"/>
                          </a:solidFill>
                        </a:rPr>
                        <a:t>Informal feeder routes</a:t>
                      </a:r>
                      <a:endParaRPr lang="en-US" sz="103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503429"/>
                          </a:solidFill>
                        </a:rPr>
                        <a:t>Limited</a:t>
                      </a:r>
                      <a:endParaRPr lang="en-US" sz="103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503429"/>
                          </a:solidFill>
                        </a:rPr>
                        <a:t>Limited</a:t>
                      </a:r>
                      <a:endParaRPr lang="en-US" sz="103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503429"/>
                          </a:solidFill>
                        </a:rPr>
                        <a:t>✓</a:t>
                      </a:r>
                      <a:endParaRPr lang="en-US" sz="103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503429"/>
                          </a:solidFill>
                        </a:rPr>
                        <a:t>✓</a:t>
                      </a:r>
                      <a:endParaRPr lang="en-US" sz="103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1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503429"/>
                          </a:solidFill>
                        </a:rPr>
                        <a:t>Crowdsourced local timings</a:t>
                      </a:r>
                      <a:endParaRPr lang="en-US" sz="103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503429"/>
                          </a:solidFill>
                        </a:rPr>
                        <a:t>Limited</a:t>
                      </a:r>
                      <a:endParaRPr lang="en-US" sz="103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503429"/>
                          </a:solidFill>
                        </a:rPr>
                        <a:t>✗</a:t>
                      </a:r>
                      <a:endParaRPr lang="en-US" sz="103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503429"/>
                          </a:solidFill>
                        </a:rPr>
                        <a:t>✓</a:t>
                      </a:r>
                      <a:endParaRPr lang="en-US" sz="103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503429"/>
                          </a:solidFill>
                        </a:rPr>
                        <a:t>✓</a:t>
                      </a:r>
                      <a:endParaRPr lang="en-US" sz="103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1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503429"/>
                          </a:solidFill>
                        </a:rPr>
                        <a:t>Next expected departure</a:t>
                      </a:r>
                      <a:endParaRPr lang="en-US" sz="103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503429"/>
                          </a:solidFill>
                        </a:rPr>
                        <a:t>Variable</a:t>
                      </a:r>
                      <a:endParaRPr lang="en-US" sz="103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503429"/>
                          </a:solidFill>
                        </a:rPr>
                        <a:t>✗</a:t>
                      </a:r>
                      <a:endParaRPr lang="en-US" sz="103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503429"/>
                          </a:solidFill>
                        </a:rPr>
                        <a:t>Informal</a:t>
                      </a:r>
                      <a:endParaRPr lang="en-US" sz="103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503429"/>
                          </a:solidFill>
                        </a:rPr>
                        <a:t>✓</a:t>
                      </a:r>
                      <a:endParaRPr lang="en-US" sz="103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1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503429"/>
                          </a:solidFill>
                        </a:rPr>
                        <a:t>Community validation</a:t>
                      </a:r>
                      <a:endParaRPr lang="en-US" sz="103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503429"/>
                          </a:solidFill>
                        </a:rPr>
                        <a:t>Limited</a:t>
                      </a:r>
                      <a:endParaRPr lang="en-US" sz="103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503429"/>
                          </a:solidFill>
                        </a:rPr>
                        <a:t>✗</a:t>
                      </a:r>
                      <a:endParaRPr lang="en-US" sz="103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503429"/>
                          </a:solidFill>
                        </a:rPr>
                        <a:t>Informal</a:t>
                      </a:r>
                      <a:endParaRPr lang="en-US" sz="103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503429"/>
                          </a:solidFill>
                        </a:rPr>
                        <a:t>✓</a:t>
                      </a:r>
                      <a:endParaRPr lang="en-US" sz="1030" dirty="0"/>
                    </a:p>
                  </a:txBody>
                  <a:tcPr anchor="ctr">
                    <a:lnL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82935" y="-1508760"/>
            <a:ext cx="2743200" cy="2743200"/>
          </a:xfrm>
          <a:prstGeom prst="ellipse">
            <a:avLst/>
          </a:prstGeom>
          <a:solidFill>
            <a:srgbClr val="AE536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11480"/>
            <a:ext cx="1367028" cy="329184"/>
          </a:xfrm>
          <a:prstGeom prst="roundRect">
            <a:avLst>
              <a:gd name="adj" fmla="val 50000"/>
            </a:avLst>
          </a:prstGeom>
          <a:solidFill>
            <a:srgbClr val="AE53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11480"/>
            <a:ext cx="13670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3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REFERENCES, CODE &amp; DEMO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89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A89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RAAHSETU  ·  BUILD WITH BHARAT 2.0</a:t>
            </a:r>
            <a:endParaRPr lang="en-US" sz="850" dirty="0"/>
          </a:p>
        </p:txBody>
      </p:sp>
      <p:pic>
        <p:nvPicPr>
          <p:cNvPr id="8" name="Image 0" descr="/home/claude/raahsetu/icons/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164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6916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REFERENCES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85800" y="2212848"/>
            <a:ext cx="5486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515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Bank — research on rural &amp; last-mile public transport accessibility</a:t>
            </a:r>
            <a:endParaRPr lang="en-US" sz="108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515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Housing &amp; Urban Affairs — reports on informal / paratransit systems in India</a:t>
            </a:r>
            <a:endParaRPr lang="en-US" sz="108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515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literature on crowdsourced transit data (e.g. GTFS-community &amp; citizen-sensing studies)</a:t>
            </a:r>
            <a:endParaRPr lang="en-US" sz="108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515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India / Digital Public Infrastructure initiatives on open mobility data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537960" y="1691640"/>
            <a:ext cx="5148072" cy="914400"/>
          </a:xfrm>
          <a:prstGeom prst="roundRect">
            <a:avLst>
              <a:gd name="adj" fmla="val 10000"/>
            </a:avLst>
          </a:prstGeom>
          <a:solidFill>
            <a:srgbClr val="503429"/>
          </a:solidFill>
          <a:ln/>
        </p:spPr>
      </p:sp>
      <p:sp>
        <p:nvSpPr>
          <p:cNvPr id="12" name="Shape 9"/>
          <p:cNvSpPr/>
          <p:nvPr/>
        </p:nvSpPr>
        <p:spPr>
          <a:xfrm>
            <a:off x="6739128" y="1874520"/>
            <a:ext cx="548640" cy="54864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3" name="Image 1" descr="/home/claude/raahsetu/icons/git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5938" y="1951330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98080" y="1819656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498080" y="2130552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Add GitHub Link ]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537960" y="2807208"/>
            <a:ext cx="5148072" cy="914400"/>
          </a:xfrm>
          <a:prstGeom prst="roundRect">
            <a:avLst>
              <a:gd name="adj" fmla="val 10000"/>
            </a:avLst>
          </a:prstGeom>
          <a:solidFill>
            <a:srgbClr val="AE5369"/>
          </a:solidFill>
          <a:ln/>
        </p:spPr>
      </p:sp>
      <p:sp>
        <p:nvSpPr>
          <p:cNvPr id="17" name="Shape 13"/>
          <p:cNvSpPr/>
          <p:nvPr/>
        </p:nvSpPr>
        <p:spPr>
          <a:xfrm>
            <a:off x="6739128" y="2990088"/>
            <a:ext cx="548640" cy="54864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8" name="Image 2" descr="/home/claude/raahsetu/icons/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5938" y="3066898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498080" y="2935224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7498080" y="324612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Add Demo Link ]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02920" y="3931920"/>
            <a:ext cx="11183112" cy="2331720"/>
          </a:xfrm>
          <a:prstGeom prst="roundRect">
            <a:avLst>
              <a:gd name="adj" fmla="val 3922"/>
            </a:avLst>
          </a:prstGeom>
          <a:solidFill>
            <a:srgbClr val="F6EEE1"/>
          </a:solidFill>
          <a:ln/>
        </p:spPr>
      </p:sp>
      <p:sp>
        <p:nvSpPr>
          <p:cNvPr id="22" name="Shape 17"/>
          <p:cNvSpPr/>
          <p:nvPr/>
        </p:nvSpPr>
        <p:spPr>
          <a:xfrm>
            <a:off x="777240" y="4187952"/>
            <a:ext cx="566928" cy="566928"/>
          </a:xfrm>
          <a:prstGeom prst="ellipse">
            <a:avLst/>
          </a:prstGeom>
          <a:solidFill>
            <a:srgbClr val="AE5369"/>
          </a:solidFill>
          <a:ln/>
        </p:spPr>
      </p:sp>
      <p:pic>
        <p:nvPicPr>
          <p:cNvPr id="23" name="Image 3" descr="/home/claude/raahsetu/icons/handsh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79" y="4272991"/>
            <a:ext cx="396850" cy="3968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08760" y="4187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ZENITHe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1508760" y="45537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15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Indira Gandhi Delhi Technical University for Women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777240" y="5074920"/>
            <a:ext cx="19659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8198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77240" y="50749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Arushi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2907792" y="5074920"/>
            <a:ext cx="19659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819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2907792" y="50749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Diya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5038344" y="5074920"/>
            <a:ext cx="19659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8198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038344" y="50749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Mansi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7168896" y="5074920"/>
            <a:ext cx="19659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8198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168896" y="50749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Nidhi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9299448" y="5074920"/>
            <a:ext cx="19659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8198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9299448" y="50749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03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Yashika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6949440" y="5861304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[team email / phone]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795</Words>
  <Application>Microsoft Office PowerPoint</Application>
  <PresentationFormat>Widescreen</PresentationFormat>
  <Paragraphs>227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3</cp:revision>
  <dcterms:created xsi:type="dcterms:W3CDTF">2026-09-01T10:17:13Z</dcterms:created>
  <dcterms:modified xsi:type="dcterms:W3CDTF">2026-09-01T10:30:33Z</dcterms:modified>
</cp:coreProperties>
</file>